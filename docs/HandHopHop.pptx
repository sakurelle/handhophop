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60" r:id="rId7"/>
    <p:sldId id="261" r:id="rId8"/>
    <p:sldId id="263" r:id="rId9"/>
    <p:sldId id="266" r:id="rId10"/>
    <p:sldId id="267" r:id="rId11"/>
    <p:sldId id="268" r:id="rId12"/>
    <p:sldId id="269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2419"/>
    <a:srgbClr val="A95E32"/>
    <a:srgbClr val="B95A28"/>
    <a:srgbClr val="F4E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6.png"/><Relationship Id="rId16" Type="http://schemas.openxmlformats.org/officeDocument/2006/relationships/tags" Target="../tags/tag12.xml"/><Relationship Id="rId15" Type="http://schemas.openxmlformats.org/officeDocument/2006/relationships/image" Target="../media/image5.png"/><Relationship Id="rId14" Type="http://schemas.openxmlformats.org/officeDocument/2006/relationships/tags" Target="../tags/tag11.xml"/><Relationship Id="rId13" Type="http://schemas.openxmlformats.org/officeDocument/2006/relationships/image" Target="../media/image4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3.png"/><Relationship Id="rId16" Type="http://schemas.openxmlformats.org/officeDocument/2006/relationships/image" Target="../media/image9.png"/><Relationship Id="rId15" Type="http://schemas.openxmlformats.org/officeDocument/2006/relationships/tags" Target="../tags/tag24.xml"/><Relationship Id="rId14" Type="http://schemas.openxmlformats.org/officeDocument/2006/relationships/image" Target="../media/image16.png"/><Relationship Id="rId13" Type="http://schemas.openxmlformats.org/officeDocument/2006/relationships/tags" Target="../tags/tag23.xml"/><Relationship Id="rId12" Type="http://schemas.openxmlformats.org/officeDocument/2006/relationships/image" Target="../media/image15.png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21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image" Target="../media/image26.pn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30.png"/><Relationship Id="rId14" Type="http://schemas.openxmlformats.org/officeDocument/2006/relationships/tags" Target="../tags/tag41.xml"/><Relationship Id="rId13" Type="http://schemas.openxmlformats.org/officeDocument/2006/relationships/image" Target="../media/image29.png"/><Relationship Id="rId12" Type="http://schemas.openxmlformats.org/officeDocument/2006/relationships/tags" Target="../tags/tag40.xml"/><Relationship Id="rId11" Type="http://schemas.openxmlformats.org/officeDocument/2006/relationships/image" Target="../media/image28.png"/><Relationship Id="rId10" Type="http://schemas.openxmlformats.org/officeDocument/2006/relationships/tags" Target="../tags/tag39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07465" y="1572895"/>
            <a:ext cx="648716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rgbClr val="3A241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HandHopHop</a:t>
            </a:r>
            <a:endParaRPr lang="en-US" sz="6600" b="1" dirty="0">
              <a:solidFill>
                <a:srgbClr val="3A2419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325880" y="2505710"/>
            <a:ext cx="5479415" cy="311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A95E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 идеи — в схему. Без лишних переходов</a:t>
            </a:r>
            <a:endParaRPr lang="en-US" sz="2000" b="1" dirty="0">
              <a:solidFill>
                <a:srgbClr val="A95E3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25880" y="3337687"/>
            <a:ext cx="5394960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3A2419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Android-приложение для создания схем</a:t>
            </a:r>
            <a:endParaRPr lang="en-US" sz="1900" dirty="0">
              <a:solidFill>
                <a:srgbClr val="3A24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3A2419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вышивания из изображений</a:t>
            </a:r>
            <a:endParaRPr lang="en-US" sz="1900" dirty="0">
              <a:solidFill>
                <a:srgbClr val="3A2419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25880" y="4535297"/>
            <a:ext cx="5623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A95E32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Лучков Александр   │   Девяткин Егор   │   Троян Арсений</a:t>
            </a:r>
            <a:endParaRPr lang="en-US" sz="1350" b="1" dirty="0">
              <a:solidFill>
                <a:srgbClr val="A95E32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cxnSp>
        <p:nvCxnSpPr>
          <p:cNvPr id="10" name="Прямое соединение 9"/>
          <p:cNvCxnSpPr/>
          <p:nvPr/>
        </p:nvCxnSpPr>
        <p:spPr>
          <a:xfrm>
            <a:off x="4143375" y="3077210"/>
            <a:ext cx="2577465" cy="0"/>
          </a:xfrm>
          <a:prstGeom prst="line">
            <a:avLst/>
          </a:prstGeom>
          <a:solidFill>
            <a:srgbClr val="A95E32"/>
          </a:solidFill>
          <a:ln>
            <a:solidFill>
              <a:srgbClr val="A95E3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Прямое соединение 10"/>
          <p:cNvCxnSpPr/>
          <p:nvPr/>
        </p:nvCxnSpPr>
        <p:spPr>
          <a:xfrm>
            <a:off x="1325880" y="3077210"/>
            <a:ext cx="2577465" cy="0"/>
          </a:xfrm>
          <a:prstGeom prst="line">
            <a:avLst/>
          </a:prstGeom>
          <a:solidFill>
            <a:srgbClr val="A95E32"/>
          </a:solidFill>
          <a:ln>
            <a:solidFill>
              <a:srgbClr val="A95E3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 flipH="1" flipV="1">
            <a:off x="1325880" y="3039110"/>
            <a:ext cx="76200" cy="76200"/>
          </a:xfrm>
          <a:prstGeom prst="ellipse">
            <a:avLst/>
          </a:prstGeom>
          <a:solidFill>
            <a:srgbClr val="A95E32"/>
          </a:solidFill>
          <a:ln>
            <a:solidFill>
              <a:srgbClr val="A95E32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Овал 12"/>
          <p:cNvSpPr/>
          <p:nvPr/>
        </p:nvSpPr>
        <p:spPr>
          <a:xfrm flipH="1" flipV="1">
            <a:off x="6644640" y="3039110"/>
            <a:ext cx="76200" cy="76200"/>
          </a:xfrm>
          <a:prstGeom prst="ellipse">
            <a:avLst/>
          </a:prstGeom>
          <a:solidFill>
            <a:srgbClr val="A95E32"/>
          </a:solidFill>
          <a:ln>
            <a:solidFill>
              <a:srgbClr val="A95E32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Умножить 13"/>
          <p:cNvSpPr/>
          <p:nvPr/>
        </p:nvSpPr>
        <p:spPr>
          <a:xfrm>
            <a:off x="3961130" y="3014345"/>
            <a:ext cx="125095" cy="125730"/>
          </a:xfrm>
          <a:prstGeom prst="mathMultiply">
            <a:avLst/>
          </a:prstGeom>
          <a:solidFill>
            <a:srgbClr val="A95E32"/>
          </a:solidFill>
          <a:ln w="12700" cmpd="sng">
            <a:solidFill>
              <a:srgbClr val="A95E32">
                <a:alpha val="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536192" y="868553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sz="4200" b="1" i="0">
                <a:solidFill>
                  <a:srgbClr val="3A2419"/>
                </a:solidFill>
                <a:latin typeface="Georgia" panose="02040502050405020303"/>
              </a:rPr>
              <a:t>Путь разорван</a:t>
            </a:r>
            <a:endParaRPr sz="4200" b="1" i="0">
              <a:solidFill>
                <a:srgbClr val="3A2419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72768" y="2011680"/>
            <a:ext cx="8869680" cy="658368"/>
          </a:xfrm>
          <a:prstGeom prst="roundRect">
            <a:avLst/>
          </a:prstGeom>
          <a:solidFill>
            <a:srgbClr val="F9EFE8"/>
          </a:solidFill>
          <a:ln w="15240">
            <a:noFill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108835"/>
            <a:ext cx="585470" cy="58547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572895" y="2167255"/>
            <a:ext cx="8860155" cy="3473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300" b="1" i="0">
                <a:solidFill>
                  <a:srgbClr val="AA58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Проблема в разрыве между этапами</a:t>
            </a:r>
            <a:endParaRPr sz="2300" b="1" i="0">
              <a:solidFill>
                <a:srgbClr val="AA58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1670685" y="3895090"/>
            <a:ext cx="254317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3D251A"/>
                </a:solidFill>
                <a:latin typeface="Arial" panose="020B0604020202020204"/>
              </a:rPr>
              <a:t>1. Поиск изображения</a:t>
            </a:r>
            <a:endParaRPr sz="1800" b="1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1754505" y="4282440"/>
            <a:ext cx="2404745" cy="756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3D251A"/>
                </a:solidFill>
                <a:latin typeface="Arial" panose="020B0604020202020204"/>
              </a:rPr>
              <a:t>Изображение находится
в разных местах: соцсети,
лента, галерея</a:t>
            </a:r>
            <a:endParaRPr sz="1500" b="0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1773301" y="5334381"/>
            <a:ext cx="2350008" cy="457200"/>
          </a:xfrm>
          <a:prstGeom prst="roundRect">
            <a:avLst/>
          </a:prstGeom>
          <a:solidFill>
            <a:srgbClr val="F7E9DE"/>
          </a:solidFill>
          <a:ln w="12700">
            <a:solidFill>
              <a:srgbClr val="EF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>
                <a:solidFill>
                  <a:srgbClr val="A95E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Теряется контекст</a:t>
            </a:r>
            <a:endParaRPr lang="ru-RU" sz="1600">
              <a:solidFill>
                <a:srgbClr val="A95E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>
            <p:custDataLst>
              <p:tags r:id="rId6"/>
            </p:custDataLst>
          </p:nvPr>
        </p:nvSpPr>
        <p:spPr>
          <a:xfrm>
            <a:off x="4808982" y="3895216"/>
            <a:ext cx="246887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3D251A"/>
                </a:solidFill>
                <a:latin typeface="Arial" panose="020B0604020202020204"/>
              </a:rPr>
              <a:t>2. Подготовка схемы</a:t>
            </a:r>
            <a:endParaRPr sz="1800" b="1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4827905" y="4282440"/>
            <a:ext cx="2404745" cy="756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3D251A"/>
                </a:solidFill>
                <a:latin typeface="Arial" panose="020B0604020202020204"/>
              </a:rPr>
              <a:t>Чтобы начать работу,
нужно перейти в другой
сервис или редактор</a:t>
            </a:r>
            <a:endParaRPr sz="1500" b="0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>
            <p:custDataLst>
              <p:tags r:id="rId8"/>
            </p:custDataLst>
          </p:nvPr>
        </p:nvSpPr>
        <p:spPr>
          <a:xfrm>
            <a:off x="4818888" y="5334381"/>
            <a:ext cx="2350008" cy="457200"/>
          </a:xfrm>
          <a:prstGeom prst="roundRect">
            <a:avLst/>
          </a:prstGeom>
          <a:solidFill>
            <a:srgbClr val="F7E9DE"/>
          </a:solidFill>
          <a:ln w="12700">
            <a:solidFill>
              <a:srgbClr val="EF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>
                <a:solidFill>
                  <a:srgbClr val="A95E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Лишний переход</a:t>
            </a:r>
            <a:endParaRPr lang="ru-RU" sz="1600">
              <a:solidFill>
                <a:srgbClr val="A95E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>
            <p:custDataLst>
              <p:tags r:id="rId9"/>
            </p:custDataLst>
          </p:nvPr>
        </p:nvSpPr>
        <p:spPr>
          <a:xfrm>
            <a:off x="7872983" y="3895216"/>
            <a:ext cx="246887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3D251A"/>
                </a:solidFill>
                <a:latin typeface="Arial" panose="020B0604020202020204"/>
              </a:rPr>
              <a:t>3. Возврат к проекту</a:t>
            </a:r>
            <a:endParaRPr sz="1800" b="1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>
            <p:custDataLst>
              <p:tags r:id="rId10"/>
            </p:custDataLst>
          </p:nvPr>
        </p:nvSpPr>
        <p:spPr>
          <a:xfrm>
            <a:off x="7872730" y="4282440"/>
            <a:ext cx="2404745" cy="975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3D251A"/>
                </a:solidFill>
                <a:latin typeface="Arial" panose="020B0604020202020204"/>
              </a:rPr>
              <a:t>Через время сложно быстро</a:t>
            </a:r>
            <a:r>
              <a:rPr lang="ru-RU" sz="1500" b="0" i="0">
                <a:solidFill>
                  <a:srgbClr val="3D251A"/>
                </a:solidFill>
                <a:latin typeface="Arial" panose="020B0604020202020204"/>
              </a:rPr>
              <a:t> </a:t>
            </a:r>
            <a:r>
              <a:rPr sz="1500" b="0" i="0">
                <a:solidFill>
                  <a:srgbClr val="3D251A"/>
                </a:solidFill>
                <a:latin typeface="Arial" panose="020B0604020202020204"/>
              </a:rPr>
              <a:t>вспомнить, где остановились</a:t>
            </a:r>
            <a:r>
              <a:rPr lang="ru-RU" sz="1500" b="0" i="0">
                <a:solidFill>
                  <a:srgbClr val="3D251A"/>
                </a:solidFill>
                <a:latin typeface="Arial" panose="020B0604020202020204"/>
              </a:rPr>
              <a:t> </a:t>
            </a:r>
            <a:r>
              <a:rPr sz="1500" b="0" i="0">
                <a:solidFill>
                  <a:srgbClr val="3D251A"/>
                </a:solidFill>
                <a:latin typeface="Arial" panose="020B0604020202020204"/>
              </a:rPr>
              <a:t>и что делать дальше</a:t>
            </a:r>
            <a:endParaRPr sz="1500" b="0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>
            <p:custDataLst>
              <p:tags r:id="rId11"/>
            </p:custDataLst>
          </p:nvPr>
        </p:nvSpPr>
        <p:spPr>
          <a:xfrm>
            <a:off x="7864475" y="5334381"/>
            <a:ext cx="2350008" cy="457200"/>
          </a:xfrm>
          <a:prstGeom prst="roundRect">
            <a:avLst/>
          </a:prstGeom>
          <a:solidFill>
            <a:srgbClr val="F7E9DE"/>
          </a:solidFill>
          <a:ln w="12700">
            <a:solidFill>
              <a:srgbClr val="EF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>
                <a:solidFill>
                  <a:srgbClr val="A95E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Нет продолжения</a:t>
            </a:r>
            <a:endParaRPr lang="ru-RU" sz="1600">
              <a:solidFill>
                <a:srgbClr val="A95E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Изображение 23" descr="ChatGPT Image 24 мая 2026 г., 23_33_22 (2)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447925" y="3013075"/>
            <a:ext cx="1000125" cy="1000125"/>
          </a:xfrm>
          <a:prstGeom prst="rect">
            <a:avLst/>
          </a:prstGeom>
        </p:spPr>
      </p:pic>
      <p:pic>
        <p:nvPicPr>
          <p:cNvPr id="30" name="Изображение 29" descr="ChatGPT Image 24 мая 2026 г., 23_33_22 (1)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402580" y="2872105"/>
            <a:ext cx="1282065" cy="1282065"/>
          </a:xfrm>
          <a:prstGeom prst="rect">
            <a:avLst/>
          </a:prstGeom>
        </p:spPr>
      </p:pic>
      <p:pic>
        <p:nvPicPr>
          <p:cNvPr id="31" name="Изображение 30" descr="ChatGPT Image 24 мая 2026 г., 23_33_22 (3)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489950" y="2870835"/>
            <a:ext cx="1211580" cy="1211580"/>
          </a:xfrm>
          <a:prstGeom prst="rect">
            <a:avLst/>
          </a:prstGeom>
        </p:spPr>
      </p:pic>
      <p:pic>
        <p:nvPicPr>
          <p:cNvPr id="32" name="Picture 5" descr="icon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620" y="2108835"/>
            <a:ext cx="585470" cy="5854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536065" y="1727200"/>
            <a:ext cx="4636135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C96B3F"/>
                </a:solidFill>
                <a:latin typeface="Bahnschrift" panose="020B0502040204020203" charset="0"/>
                <a:ea typeface="Arial" panose="020B0604020202020204" pitchFamily="34" charset="-122"/>
                <a:cs typeface="Bahnschrift" panose="020B0502040204020203" charset="0"/>
              </a:rPr>
              <a:t>Пользователь проходит весь сценарий</a:t>
            </a:r>
            <a:endParaRPr lang="en-US" sz="1900" dirty="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 algn="l">
              <a:buNone/>
            </a:pPr>
            <a:r>
              <a:rPr lang="en-US" sz="1900" dirty="0">
                <a:solidFill>
                  <a:srgbClr val="C96B3F"/>
                </a:solidFill>
                <a:latin typeface="Bahnschrift" panose="020B0502040204020203" charset="0"/>
                <a:ea typeface="Arial" panose="020B0604020202020204" pitchFamily="34" charset="-122"/>
                <a:cs typeface="Bahnschrift" panose="020B0502040204020203" charset="0"/>
              </a:rPr>
              <a:t>без потери контекста</a:t>
            </a:r>
            <a:endParaRPr lang="en-US" sz="1900" dirty="0">
              <a:solidFill>
                <a:srgbClr val="C96B3F"/>
              </a:solidFill>
              <a:latin typeface="Bahnschrift" panose="020B0502040204020203" charset="0"/>
              <a:ea typeface="Arial" panose="020B0604020202020204" pitchFamily="34" charset="-122"/>
              <a:cs typeface="Bahnschrift" panose="020B0502040204020203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600200" y="242316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</p:sp>
      <p:sp>
        <p:nvSpPr>
          <p:cNvPr id="10" name="Text 7"/>
          <p:cNvSpPr/>
          <p:nvPr/>
        </p:nvSpPr>
        <p:spPr>
          <a:xfrm>
            <a:off x="2468880" y="2423160"/>
            <a:ext cx="2376805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Один сценарий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внутри приложения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600200" y="34290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</p:sp>
      <p:sp>
        <p:nvSpPr>
          <p:cNvPr id="13" name="Text 10"/>
          <p:cNvSpPr/>
          <p:nvPr/>
        </p:nvSpPr>
        <p:spPr>
          <a:xfrm>
            <a:off x="2468880" y="3429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Без лишних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переходов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600200" y="443484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  <p:txBody>
          <a:bodyPr/>
          <a:p>
            <a:endParaRPr lang="ru-RU" altLang="en-US"/>
          </a:p>
        </p:txBody>
      </p:sp>
      <p:sp>
        <p:nvSpPr>
          <p:cNvPr id="19" name="Text 16"/>
          <p:cNvSpPr/>
          <p:nvPr/>
        </p:nvSpPr>
        <p:spPr>
          <a:xfrm>
            <a:off x="2468880" y="4434840"/>
            <a:ext cx="2378075" cy="76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Быстрый возврат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к проекту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4928870" y="5806440"/>
            <a:ext cx="6812280" cy="594360"/>
          </a:xfrm>
          <a:prstGeom prst="roundRect">
            <a:avLst>
              <a:gd name="adj" fmla="val 21538"/>
            </a:avLst>
          </a:prstGeom>
          <a:solidFill>
            <a:srgbClr val="FFFDF9">
              <a:alpha val="97000"/>
            </a:srgbClr>
          </a:solidFill>
          <a:ln w="10160">
            <a:solidFill>
              <a:srgbClr val="E7BCA5"/>
            </a:solidFill>
            <a:prstDash val="solid"/>
          </a:ln>
          <a:effectLst/>
        </p:spPr>
      </p:sp>
      <p:sp>
        <p:nvSpPr>
          <p:cNvPr id="95" name="Shape 92"/>
          <p:cNvSpPr/>
          <p:nvPr/>
        </p:nvSpPr>
        <p:spPr>
          <a:xfrm>
            <a:off x="6631940" y="5843016"/>
            <a:ext cx="0" cy="521208"/>
          </a:xfrm>
          <a:prstGeom prst="line">
            <a:avLst/>
          </a:prstGeom>
          <a:noFill/>
          <a:ln w="7620">
            <a:solidFill>
              <a:srgbClr val="E0B49F">
                <a:alpha val="9000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335010" y="5843016"/>
            <a:ext cx="0" cy="521208"/>
          </a:xfrm>
          <a:prstGeom prst="line">
            <a:avLst/>
          </a:prstGeom>
          <a:noFill/>
          <a:ln w="7620">
            <a:solidFill>
              <a:srgbClr val="E0B49F">
                <a:alpha val="9000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0038080" y="5843016"/>
            <a:ext cx="0" cy="521208"/>
          </a:xfrm>
          <a:prstGeom prst="line">
            <a:avLst/>
          </a:prstGeom>
          <a:noFill/>
          <a:ln w="7620">
            <a:solidFill>
              <a:srgbClr val="E0B49F">
                <a:alpha val="90000"/>
              </a:srgbClr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5550535" y="5816600"/>
            <a:ext cx="97155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Лента</a:t>
            </a:r>
            <a:endParaRPr lang="en-US" sz="1150" dirty="0"/>
          </a:p>
        </p:txBody>
      </p:sp>
      <p:sp>
        <p:nvSpPr>
          <p:cNvPr id="108" name="Text 105"/>
          <p:cNvSpPr/>
          <p:nvPr/>
        </p:nvSpPr>
        <p:spPr>
          <a:xfrm>
            <a:off x="7253605" y="5816600"/>
            <a:ext cx="971550" cy="5848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Выбор изображения</a:t>
            </a:r>
            <a:endParaRPr lang="en-US" sz="1150" dirty="0"/>
          </a:p>
        </p:txBody>
      </p:sp>
      <p:sp>
        <p:nvSpPr>
          <p:cNvPr id="109" name="Text 106"/>
          <p:cNvSpPr/>
          <p:nvPr/>
        </p:nvSpPr>
        <p:spPr>
          <a:xfrm>
            <a:off x="8554466" y="589788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2" name="Text 109"/>
          <p:cNvSpPr/>
          <p:nvPr/>
        </p:nvSpPr>
        <p:spPr>
          <a:xfrm>
            <a:off x="10659745" y="5807075"/>
            <a:ext cx="971550" cy="6032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Избранное</a:t>
            </a:r>
            <a:endParaRPr lang="en-US" sz="1150" dirty="0"/>
          </a:p>
        </p:txBody>
      </p:sp>
      <p:sp>
        <p:nvSpPr>
          <p:cNvPr id="114" name="TextBox 2"/>
          <p:cNvSpPr txBox="1"/>
          <p:nvPr/>
        </p:nvSpPr>
        <p:spPr>
          <a:xfrm>
            <a:off x="1536192" y="868553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ru-RU" sz="4200" b="1" i="0">
                <a:solidFill>
                  <a:srgbClr val="3A2419"/>
                </a:solidFill>
                <a:latin typeface="Georgia" panose="02040502050405020303"/>
              </a:rPr>
              <a:t>Один маршрут</a:t>
            </a:r>
            <a:endParaRPr lang="ru-RU" sz="4200" b="1" i="0">
              <a:solidFill>
                <a:srgbClr val="3A2419"/>
              </a:solidFill>
              <a:latin typeface="Georgia" panose="02040502050405020303"/>
            </a:endParaRPr>
          </a:p>
        </p:txBody>
      </p:sp>
      <p:pic>
        <p:nvPicPr>
          <p:cNvPr id="117" name="Изображение 116" descr="ChatGPT Image 24 мая 2026 г., 23_57_23 (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70" y="4370705"/>
            <a:ext cx="905510" cy="905510"/>
          </a:xfrm>
          <a:prstGeom prst="rect">
            <a:avLst/>
          </a:prstGeom>
        </p:spPr>
      </p:pic>
      <p:pic>
        <p:nvPicPr>
          <p:cNvPr id="118" name="Изображение 117" descr="ChatGPT Image 24 мая 2026 г., 23_57_20 (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065" y="3347720"/>
            <a:ext cx="968375" cy="968375"/>
          </a:xfrm>
          <a:prstGeom prst="rect">
            <a:avLst/>
          </a:prstGeom>
        </p:spPr>
      </p:pic>
      <p:pic>
        <p:nvPicPr>
          <p:cNvPr id="119" name="Изображение 118" descr="ChatGPT Image 24 мая 2026 г., 23_57_18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065" y="2329180"/>
            <a:ext cx="971550" cy="971550"/>
          </a:xfrm>
          <a:prstGeom prst="rect">
            <a:avLst/>
          </a:prstGeom>
        </p:spPr>
      </p:pic>
      <p:sp>
        <p:nvSpPr>
          <p:cNvPr id="120" name="Text 105"/>
          <p:cNvSpPr/>
          <p:nvPr/>
        </p:nvSpPr>
        <p:spPr>
          <a:xfrm>
            <a:off x="9064625" y="5815965"/>
            <a:ext cx="971550" cy="5848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</a:t>
            </a:r>
            <a:r>
              <a:rPr lang="ru-RU" sz="115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Работа со схемой</a:t>
            </a:r>
            <a:endParaRPr lang="ru-RU" sz="1150" dirty="0">
              <a:solidFill>
                <a:srgbClr val="2B1B1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pic>
        <p:nvPicPr>
          <p:cNvPr id="121" name="Изображение 120" descr="ChatGPT Image 24 мая 2026 г., 23_57_19 (4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8080" y="5815965"/>
            <a:ext cx="598170" cy="598170"/>
          </a:xfrm>
          <a:prstGeom prst="rect">
            <a:avLst/>
          </a:prstGeom>
        </p:spPr>
      </p:pic>
      <p:pic>
        <p:nvPicPr>
          <p:cNvPr id="122" name="Изображение 121" descr="ChatGPT Image 24 мая 2026 г., 23_57_23 (6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010" y="5754370"/>
            <a:ext cx="730250" cy="730250"/>
          </a:xfrm>
          <a:prstGeom prst="rect">
            <a:avLst/>
          </a:prstGeom>
        </p:spPr>
      </p:pic>
      <p:pic>
        <p:nvPicPr>
          <p:cNvPr id="123" name="Изображение 122" descr="ChatGPT Image 24 мая 2026 г., 23_57_19 (2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0980" y="5739765"/>
            <a:ext cx="744855" cy="744855"/>
          </a:xfrm>
          <a:prstGeom prst="rect">
            <a:avLst/>
          </a:prstGeom>
        </p:spPr>
      </p:pic>
      <p:pic>
        <p:nvPicPr>
          <p:cNvPr id="124" name="Изображение 123" descr="ChatGPT Image 24 мая 2026 г., 23_57_18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150" y="5739765"/>
            <a:ext cx="727710" cy="727710"/>
          </a:xfrm>
          <a:prstGeom prst="rect">
            <a:avLst/>
          </a:prstGeom>
        </p:spPr>
      </p:pic>
      <p:pic>
        <p:nvPicPr>
          <p:cNvPr id="125" name="Рисунок 16"/>
          <p:cNvPicPr>
            <a:picLocks noChangeAspect="1"/>
          </p:cNvPicPr>
          <p:nvPr/>
        </p:nvPicPr>
        <p:blipFill>
          <a:blip r:embed="rId8"/>
          <a:srcRect l="24705" t="4767" r="24347" b="5628"/>
          <a:stretch>
            <a:fillRect/>
          </a:stretch>
        </p:blipFill>
        <p:spPr>
          <a:xfrm>
            <a:off x="7124700" y="381000"/>
            <a:ext cx="2438400" cy="5358765"/>
          </a:xfrm>
          <a:prstGeom prst="rect">
            <a:avLst/>
          </a:prstGeom>
        </p:spPr>
      </p:pic>
      <p:pic>
        <p:nvPicPr>
          <p:cNvPr id="126" name="Изображение 1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10036175" y="2046605"/>
            <a:ext cx="1270000" cy="2269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/>
          <p:cNvSpPr/>
          <p:nvPr/>
        </p:nvSpPr>
        <p:spPr>
          <a:xfrm>
            <a:off x="4773295" y="731012"/>
            <a:ext cx="6035040" cy="1234440"/>
          </a:xfrm>
          <a:prstGeom prst="rect">
            <a:avLst/>
          </a:prstGeom>
          <a:noFill/>
          <a:effectLst>
            <a:outerShdw blurRad="12700" dist="50800" dir="2700000" algn="bl" rotWithShape="0">
              <a:srgbClr val="C8B1A4">
                <a:alpha val="2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2B171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Лента снижает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2B171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порог входа</a:t>
            </a:r>
            <a:endParaRPr lang="en-US" sz="4200" b="1" dirty="0">
              <a:solidFill>
                <a:srgbClr val="2B1710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6967855" y="225806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800600" y="2596515"/>
            <a:ext cx="5724525" cy="5854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Идея уже внутри приложения — пользователю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не нужно начинать с пустого экрана</a:t>
            </a:r>
            <a:endParaRPr lang="en-US" sz="1900" dirty="0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2" name="Прямое соединение 41"/>
          <p:cNvCxnSpPr/>
          <p:nvPr/>
        </p:nvCxnSpPr>
        <p:spPr>
          <a:xfrm>
            <a:off x="7571105" y="2280920"/>
            <a:ext cx="2577465" cy="0"/>
          </a:xfrm>
          <a:prstGeom prst="line">
            <a:avLst/>
          </a:prstGeom>
          <a:solidFill>
            <a:srgbClr val="A95E32"/>
          </a:solidFill>
          <a:ln>
            <a:solidFill>
              <a:srgbClr val="A95E3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Прямое соединение 42"/>
          <p:cNvCxnSpPr/>
          <p:nvPr/>
        </p:nvCxnSpPr>
        <p:spPr>
          <a:xfrm>
            <a:off x="4753610" y="2280920"/>
            <a:ext cx="2577465" cy="0"/>
          </a:xfrm>
          <a:prstGeom prst="line">
            <a:avLst/>
          </a:prstGeom>
          <a:solidFill>
            <a:srgbClr val="A95E32"/>
          </a:solidFill>
          <a:ln>
            <a:solidFill>
              <a:srgbClr val="A95E3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Овал 43"/>
          <p:cNvSpPr/>
          <p:nvPr/>
        </p:nvSpPr>
        <p:spPr>
          <a:xfrm flipH="1" flipV="1">
            <a:off x="4753610" y="2242820"/>
            <a:ext cx="76200" cy="76200"/>
          </a:xfrm>
          <a:prstGeom prst="ellipse">
            <a:avLst/>
          </a:prstGeom>
          <a:solidFill>
            <a:srgbClr val="A95E32"/>
          </a:solidFill>
          <a:ln>
            <a:solidFill>
              <a:srgbClr val="A95E32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5" name="Овал 44"/>
          <p:cNvSpPr/>
          <p:nvPr/>
        </p:nvSpPr>
        <p:spPr>
          <a:xfrm flipH="1" flipV="1">
            <a:off x="10072370" y="2242820"/>
            <a:ext cx="76200" cy="76200"/>
          </a:xfrm>
          <a:prstGeom prst="ellipse">
            <a:avLst/>
          </a:prstGeom>
          <a:solidFill>
            <a:srgbClr val="A95E32"/>
          </a:solidFill>
          <a:ln>
            <a:solidFill>
              <a:srgbClr val="A95E32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6" name="Умножить 45"/>
          <p:cNvSpPr/>
          <p:nvPr/>
        </p:nvSpPr>
        <p:spPr>
          <a:xfrm>
            <a:off x="7388860" y="2218055"/>
            <a:ext cx="125095" cy="125730"/>
          </a:xfrm>
          <a:prstGeom prst="mathMultiply">
            <a:avLst/>
          </a:prstGeom>
          <a:solidFill>
            <a:srgbClr val="A95E32"/>
          </a:solidFill>
          <a:ln w="12700" cmpd="sng">
            <a:solidFill>
              <a:srgbClr val="A95E32">
                <a:alpha val="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1" name="TextBox 10"/>
          <p:cNvSpPr txBox="1"/>
          <p:nvPr>
            <p:custDataLst>
              <p:tags r:id="rId2"/>
            </p:custDataLst>
          </p:nvPr>
        </p:nvSpPr>
        <p:spPr>
          <a:xfrm>
            <a:off x="3914775" y="4196715"/>
            <a:ext cx="2250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3D251A"/>
                </a:solidFill>
                <a:latin typeface="Arial" panose="020B0604020202020204"/>
              </a:rPr>
              <a:t>1. </a:t>
            </a:r>
            <a:r>
              <a:rPr lang="ru-RU" sz="1600" b="1" i="0">
                <a:solidFill>
                  <a:srgbClr val="3D251A"/>
                </a:solidFill>
                <a:latin typeface="Arial" panose="020B0604020202020204"/>
              </a:rPr>
              <a:t>Готовые идеи</a:t>
            </a:r>
            <a:endParaRPr lang="ru-RU" sz="1600" b="1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52" name="TextBox 11"/>
          <p:cNvSpPr txBox="1"/>
          <p:nvPr>
            <p:custDataLst>
              <p:tags r:id="rId3"/>
            </p:custDataLst>
          </p:nvPr>
        </p:nvSpPr>
        <p:spPr>
          <a:xfrm>
            <a:off x="3914775" y="4596765"/>
            <a:ext cx="2250440" cy="756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400" b="0" i="0">
                <a:solidFill>
                  <a:srgbClr val="3D251A"/>
                </a:solidFill>
                <a:latin typeface="Arial" panose="020B0604020202020204"/>
              </a:rPr>
              <a:t>Пользователь сразу видит изображения для будущих схем</a:t>
            </a:r>
            <a:endParaRPr lang="ru-RU" sz="1400" b="0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53" name="Rounded Rectangle 12"/>
          <p:cNvSpPr/>
          <p:nvPr>
            <p:custDataLst>
              <p:tags r:id="rId4"/>
            </p:custDataLst>
          </p:nvPr>
        </p:nvSpPr>
        <p:spPr>
          <a:xfrm>
            <a:off x="3989070" y="5635625"/>
            <a:ext cx="2102485" cy="457200"/>
          </a:xfrm>
          <a:prstGeom prst="roundRect">
            <a:avLst/>
          </a:prstGeom>
          <a:solidFill>
            <a:srgbClr val="F7E9DE"/>
          </a:solidFill>
          <a:ln w="12700">
            <a:solidFill>
              <a:srgbClr val="EF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>
                <a:solidFill>
                  <a:srgbClr val="A95E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Вдохновение</a:t>
            </a:r>
            <a:endParaRPr lang="ru-RU" sz="1600">
              <a:solidFill>
                <a:srgbClr val="A95E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10"/>
          <p:cNvSpPr txBox="1"/>
          <p:nvPr>
            <p:custDataLst>
              <p:tags r:id="rId5"/>
            </p:custDataLst>
          </p:nvPr>
        </p:nvSpPr>
        <p:spPr>
          <a:xfrm>
            <a:off x="6655435" y="4231005"/>
            <a:ext cx="2250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00" b="1" i="0">
                <a:solidFill>
                  <a:srgbClr val="3D251A"/>
                </a:solidFill>
                <a:latin typeface="Arial" panose="020B0604020202020204"/>
              </a:rPr>
              <a:t>2</a:t>
            </a:r>
            <a:r>
              <a:rPr sz="1600" b="1" i="0">
                <a:solidFill>
                  <a:srgbClr val="3D251A"/>
                </a:solidFill>
                <a:latin typeface="Arial" panose="020B0604020202020204"/>
              </a:rPr>
              <a:t>. </a:t>
            </a:r>
            <a:r>
              <a:rPr lang="ru-RU" sz="1600" b="1" i="0">
                <a:solidFill>
                  <a:srgbClr val="3D251A"/>
                </a:solidFill>
                <a:latin typeface="Arial" panose="020B0604020202020204"/>
              </a:rPr>
              <a:t>Быстрый старт</a:t>
            </a:r>
            <a:endParaRPr lang="ru-RU" sz="1600" b="1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72" name="TextBox 11"/>
          <p:cNvSpPr txBox="1"/>
          <p:nvPr>
            <p:custDataLst>
              <p:tags r:id="rId6"/>
            </p:custDataLst>
          </p:nvPr>
        </p:nvSpPr>
        <p:spPr>
          <a:xfrm>
            <a:off x="6655435" y="4631055"/>
            <a:ext cx="2250440" cy="756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400" b="0" i="0">
                <a:solidFill>
                  <a:srgbClr val="3D251A"/>
                </a:solidFill>
                <a:latin typeface="Arial" panose="020B0604020202020204"/>
              </a:rPr>
              <a:t>Достаточно выбрать понравившуюся работу и перейти к схеме</a:t>
            </a:r>
            <a:endParaRPr lang="ru-RU" sz="1400" b="0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73" name="Rounded Rectangle 12"/>
          <p:cNvSpPr/>
          <p:nvPr>
            <p:custDataLst>
              <p:tags r:id="rId7"/>
            </p:custDataLst>
          </p:nvPr>
        </p:nvSpPr>
        <p:spPr>
          <a:xfrm>
            <a:off x="6729730" y="5669915"/>
            <a:ext cx="2102485" cy="457200"/>
          </a:xfrm>
          <a:prstGeom prst="roundRect">
            <a:avLst/>
          </a:prstGeom>
          <a:solidFill>
            <a:srgbClr val="F7E9DE"/>
          </a:solidFill>
          <a:ln w="12700">
            <a:solidFill>
              <a:srgbClr val="EF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>
                <a:solidFill>
                  <a:srgbClr val="A95E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Меньше шагов</a:t>
            </a:r>
            <a:endParaRPr lang="ru-RU" sz="1600">
              <a:solidFill>
                <a:srgbClr val="A95E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10"/>
          <p:cNvSpPr txBox="1"/>
          <p:nvPr>
            <p:custDataLst>
              <p:tags r:id="rId8"/>
            </p:custDataLst>
          </p:nvPr>
        </p:nvSpPr>
        <p:spPr>
          <a:xfrm>
            <a:off x="9333865" y="4231005"/>
            <a:ext cx="2250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00" b="1" i="0">
                <a:solidFill>
                  <a:srgbClr val="3D251A"/>
                </a:solidFill>
                <a:latin typeface="Arial" panose="020B0604020202020204"/>
              </a:rPr>
              <a:t>3</a:t>
            </a:r>
            <a:r>
              <a:rPr sz="1600" b="1" i="0">
                <a:solidFill>
                  <a:srgbClr val="3D251A"/>
                </a:solidFill>
                <a:latin typeface="Arial" panose="020B0604020202020204"/>
              </a:rPr>
              <a:t>. </a:t>
            </a:r>
            <a:r>
              <a:rPr lang="ru-RU" sz="1600" b="1" i="0">
                <a:solidFill>
                  <a:srgbClr val="3D251A"/>
                </a:solidFill>
                <a:latin typeface="Arial" panose="020B0604020202020204"/>
              </a:rPr>
              <a:t>Плавная работа</a:t>
            </a:r>
            <a:endParaRPr lang="ru-RU" sz="1600" b="1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77" name="TextBox 11"/>
          <p:cNvSpPr txBox="1"/>
          <p:nvPr>
            <p:custDataLst>
              <p:tags r:id="rId9"/>
            </p:custDataLst>
          </p:nvPr>
        </p:nvSpPr>
        <p:spPr>
          <a:xfrm>
            <a:off x="9333865" y="4631055"/>
            <a:ext cx="2250440" cy="756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400" b="0" i="0">
                <a:solidFill>
                  <a:srgbClr val="3D251A"/>
                </a:solidFill>
                <a:latin typeface="Arial" panose="020B0604020202020204"/>
              </a:rPr>
              <a:t>Загрузка и прокрутка не мешают основному сценарию</a:t>
            </a:r>
            <a:endParaRPr lang="ru-RU" sz="1400" b="0" i="0">
              <a:solidFill>
                <a:srgbClr val="3D251A"/>
              </a:solidFill>
              <a:latin typeface="Arial" panose="020B0604020202020204"/>
            </a:endParaRPr>
          </a:p>
        </p:txBody>
      </p:sp>
      <p:sp>
        <p:nvSpPr>
          <p:cNvPr id="78" name="Rounded Rectangle 12"/>
          <p:cNvSpPr/>
          <p:nvPr>
            <p:custDataLst>
              <p:tags r:id="rId10"/>
            </p:custDataLst>
          </p:nvPr>
        </p:nvSpPr>
        <p:spPr>
          <a:xfrm>
            <a:off x="9408160" y="5669915"/>
            <a:ext cx="2102485" cy="457200"/>
          </a:xfrm>
          <a:prstGeom prst="roundRect">
            <a:avLst/>
          </a:prstGeom>
          <a:solidFill>
            <a:srgbClr val="F7E9DE"/>
          </a:solidFill>
          <a:ln w="12700">
            <a:solidFill>
              <a:srgbClr val="EF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>
                <a:solidFill>
                  <a:srgbClr val="A95E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Удобство</a:t>
            </a:r>
            <a:endParaRPr lang="ru-RU" sz="1600">
              <a:solidFill>
                <a:srgbClr val="A95E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" name="Изображение 80" descr="ChatGPT Image 25 мая 2026 г., 00_51_19 (3)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262495" y="3291840"/>
            <a:ext cx="1063625" cy="1063625"/>
          </a:xfrm>
          <a:prstGeom prst="rect">
            <a:avLst/>
          </a:prstGeom>
        </p:spPr>
      </p:pic>
      <p:pic>
        <p:nvPicPr>
          <p:cNvPr id="82" name="Изображение 81" descr="ChatGPT Image 25 мая 2026 г., 00_51_19 (2)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841230" y="3291840"/>
            <a:ext cx="1208405" cy="1208405"/>
          </a:xfrm>
          <a:prstGeom prst="rect">
            <a:avLst/>
          </a:prstGeom>
        </p:spPr>
      </p:pic>
      <p:pic>
        <p:nvPicPr>
          <p:cNvPr id="83" name="Изображение 82" descr="ChatGPT Image 24 мая 2026 г., 23_57_18 (1)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476115" y="3250565"/>
            <a:ext cx="1099820" cy="1099820"/>
          </a:xfrm>
          <a:prstGeom prst="rect">
            <a:avLst/>
          </a:prstGeom>
        </p:spPr>
      </p:pic>
      <p:pic>
        <p:nvPicPr>
          <p:cNvPr id="84" name="Рисунок 16"/>
          <p:cNvPicPr>
            <a:picLocks noChangeAspect="1"/>
          </p:cNvPicPr>
          <p:nvPr/>
        </p:nvPicPr>
        <p:blipFill>
          <a:blip r:embed="rId17"/>
          <a:srcRect l="24784" t="3472" r="23511" b="4842"/>
          <a:stretch>
            <a:fillRect/>
          </a:stretch>
        </p:blipFill>
        <p:spPr>
          <a:xfrm>
            <a:off x="876300" y="609600"/>
            <a:ext cx="2474595" cy="5483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8087360" y="223139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956040" y="2231390"/>
            <a:ext cx="2376805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alt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Выбор количества цветов</a:t>
            </a:r>
            <a:endParaRPr lang="ru-RU" altLang="en-US" sz="180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8087360" y="323723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</p:sp>
      <p:sp>
        <p:nvSpPr>
          <p:cNvPr id="13" name="Text 10"/>
          <p:cNvSpPr/>
          <p:nvPr>
            <p:custDataLst>
              <p:tags r:id="rId5"/>
            </p:custDataLst>
          </p:nvPr>
        </p:nvSpPr>
        <p:spPr>
          <a:xfrm>
            <a:off x="8956040" y="323723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alt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Настройка сложности схемы</a:t>
            </a:r>
            <a:endParaRPr lang="ru-RU" altLang="en-US" sz="1800" dirty="0"/>
          </a:p>
        </p:txBody>
      </p:sp>
      <p:sp>
        <p:nvSpPr>
          <p:cNvPr id="14" name="Shape 11"/>
          <p:cNvSpPr/>
          <p:nvPr>
            <p:custDataLst>
              <p:tags r:id="rId6"/>
            </p:custDataLst>
          </p:nvPr>
        </p:nvSpPr>
        <p:spPr>
          <a:xfrm>
            <a:off x="8087360" y="424307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  <p:txBody>
          <a:bodyPr/>
          <a:p>
            <a:endParaRPr lang="ru-RU" altLang="en-US"/>
          </a:p>
        </p:txBody>
      </p:sp>
      <p:sp>
        <p:nvSpPr>
          <p:cNvPr id="19" name="Text 16"/>
          <p:cNvSpPr/>
          <p:nvPr>
            <p:custDataLst>
              <p:tags r:id="rId7"/>
            </p:custDataLst>
          </p:nvPr>
        </p:nvSpPr>
        <p:spPr>
          <a:xfrm>
            <a:off x="8956040" y="4243070"/>
            <a:ext cx="2378075" cy="76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alt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Палитра </a:t>
            </a:r>
            <a:r>
              <a:rPr lang="en-US" alt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DMC</a:t>
            </a:r>
            <a:endParaRPr lang="en-US" altLang="en-US" sz="1800" dirty="0">
              <a:solidFill>
                <a:srgbClr val="2B1B1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14" name="TextBox 2"/>
          <p:cNvSpPr txBox="1"/>
          <p:nvPr/>
        </p:nvSpPr>
        <p:spPr>
          <a:xfrm>
            <a:off x="5876290" y="868680"/>
            <a:ext cx="5457190" cy="8229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ru-RU" sz="4200" b="1" i="0">
                <a:solidFill>
                  <a:srgbClr val="3A2419"/>
                </a:solidFill>
                <a:latin typeface="Georgia" panose="02040502050405020303"/>
              </a:rPr>
              <a:t>Изображение - </a:t>
            </a:r>
            <a:endParaRPr lang="ru-RU" sz="4200" b="1" i="0">
              <a:solidFill>
                <a:srgbClr val="3A2419"/>
              </a:solidFill>
              <a:latin typeface="Georgia" panose="02040502050405020303"/>
            </a:endParaRPr>
          </a:p>
          <a:p>
            <a:pPr algn="r"/>
            <a:r>
              <a:rPr lang="ru-RU" sz="4200" b="1">
                <a:solidFill>
                  <a:srgbClr val="3A2419"/>
                </a:solidFill>
                <a:latin typeface="Georgia" panose="02040502050405020303" pitchFamily="34" charset="0"/>
                <a:cs typeface="Georgia" panose="02040502050405020303" pitchFamily="34" charset="0"/>
                <a:sym typeface="+mn-ea"/>
              </a:rPr>
              <a:t>Схема по номерам</a:t>
            </a:r>
            <a:endParaRPr lang="ru-RU" sz="4200" b="1" i="0">
              <a:solidFill>
                <a:srgbClr val="3A2419"/>
              </a:solidFill>
              <a:latin typeface="Georgia" panose="02040502050405020303" pitchFamily="34" charset="0"/>
              <a:cs typeface="Georgia" panose="02040502050405020303" pitchFamily="34" charset="0"/>
              <a:sym typeface="+mn-ea"/>
            </a:endParaRPr>
          </a:p>
        </p:txBody>
      </p:sp>
      <p:sp>
        <p:nvSpPr>
          <p:cNvPr id="6" name="Shape 11"/>
          <p:cNvSpPr/>
          <p:nvPr>
            <p:custDataLst>
              <p:tags r:id="rId8"/>
            </p:custDataLst>
          </p:nvPr>
        </p:nvSpPr>
        <p:spPr>
          <a:xfrm>
            <a:off x="8087995" y="524891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  <p:txBody>
          <a:bodyPr/>
          <a:p>
            <a:endParaRPr lang="ru-RU" altLang="en-US"/>
          </a:p>
        </p:txBody>
      </p:sp>
      <p:sp>
        <p:nvSpPr>
          <p:cNvPr id="8" name="Text 16"/>
          <p:cNvSpPr/>
          <p:nvPr>
            <p:custDataLst>
              <p:tags r:id="rId9"/>
            </p:custDataLst>
          </p:nvPr>
        </p:nvSpPr>
        <p:spPr>
          <a:xfrm>
            <a:off x="8954770" y="5248910"/>
            <a:ext cx="2378075" cy="76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RLE </a:t>
            </a:r>
            <a:r>
              <a:rPr lang="ru-RU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сжатие схемы</a:t>
            </a:r>
            <a:endParaRPr lang="ru-RU" sz="1800" dirty="0">
              <a:solidFill>
                <a:srgbClr val="2B1B1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5285740" y="2757805"/>
            <a:ext cx="1619885" cy="2894965"/>
          </a:xfrm>
          <a:prstGeom prst="rect">
            <a:avLst/>
          </a:prstGeom>
        </p:spPr>
      </p:pic>
      <p:pic>
        <p:nvPicPr>
          <p:cNvPr id="12" name="Изображение 11" descr="ChatGPT Image 25 мая 2026 г., 01_17_43 (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8080375" y="2193290"/>
            <a:ext cx="874395" cy="874395"/>
          </a:xfrm>
          <a:prstGeom prst="rect">
            <a:avLst/>
          </a:prstGeom>
        </p:spPr>
      </p:pic>
      <p:pic>
        <p:nvPicPr>
          <p:cNvPr id="15" name="Изображение 14" descr="ChatGPT Image 25 мая 2026 г., 01_17_43 (2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080375" y="3206750"/>
            <a:ext cx="874395" cy="874395"/>
          </a:xfrm>
          <a:prstGeom prst="rect">
            <a:avLst/>
          </a:prstGeom>
        </p:spPr>
      </p:pic>
      <p:pic>
        <p:nvPicPr>
          <p:cNvPr id="16" name="Изображение 15" descr="ChatGPT Image 25 мая 2026 г., 01_17_43 (3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8080375" y="4216400"/>
            <a:ext cx="874395" cy="874395"/>
          </a:xfrm>
          <a:prstGeom prst="rect">
            <a:avLst/>
          </a:prstGeom>
        </p:spPr>
      </p:pic>
      <p:pic>
        <p:nvPicPr>
          <p:cNvPr id="17" name="Изображение 16" descr="ChatGPT Image 25 мая 2026 г., 01_17_43 (4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8080375" y="5226050"/>
            <a:ext cx="874395" cy="874395"/>
          </a:xfrm>
          <a:prstGeom prst="rect">
            <a:avLst/>
          </a:prstGeom>
        </p:spPr>
      </p:pic>
      <p:pic>
        <p:nvPicPr>
          <p:cNvPr id="18" name="Рисунок 10"/>
          <p:cNvPicPr>
            <a:picLocks noChangeAspect="1"/>
          </p:cNvPicPr>
          <p:nvPr/>
        </p:nvPicPr>
        <p:blipFill>
          <a:blip r:embed="rId15"/>
          <a:srcRect l="25498" t="4976" r="23288" b="7775"/>
          <a:stretch>
            <a:fillRect/>
          </a:stretch>
        </p:blipFill>
        <p:spPr>
          <a:xfrm>
            <a:off x="2331720" y="578485"/>
            <a:ext cx="2678430" cy="5701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4457065" y="279273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</p:sp>
      <p:sp>
        <p:nvSpPr>
          <p:cNvPr id="10" name="Text 7"/>
          <p:cNvSpPr/>
          <p:nvPr/>
        </p:nvSpPr>
        <p:spPr>
          <a:xfrm>
            <a:off x="5325745" y="2792730"/>
            <a:ext cx="2376805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altLang="en-US" sz="20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Сохранение прогресса</a:t>
            </a:r>
            <a:endParaRPr lang="ru-RU" alt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457065" y="379857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</p:sp>
      <p:sp>
        <p:nvSpPr>
          <p:cNvPr id="13" name="Text 10"/>
          <p:cNvSpPr/>
          <p:nvPr/>
        </p:nvSpPr>
        <p:spPr>
          <a:xfrm>
            <a:off x="5325745" y="379857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altLang="en-US" sz="20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Возрат к работе</a:t>
            </a:r>
            <a:endParaRPr lang="ru-RU" alt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457065" y="480441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  <p:txBody>
          <a:bodyPr/>
          <a:p>
            <a:endParaRPr lang="ru-RU" altLang="en-US"/>
          </a:p>
        </p:txBody>
      </p:sp>
      <p:sp>
        <p:nvSpPr>
          <p:cNvPr id="19" name="Text 16"/>
          <p:cNvSpPr/>
          <p:nvPr/>
        </p:nvSpPr>
        <p:spPr>
          <a:xfrm>
            <a:off x="5325745" y="4804410"/>
            <a:ext cx="2378075" cy="76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altLang="en-US" sz="20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Долгий жизненный цикл</a:t>
            </a:r>
            <a:endParaRPr lang="ru-RU" altLang="en-US" sz="2000" dirty="0"/>
          </a:p>
        </p:txBody>
      </p:sp>
      <p:sp>
        <p:nvSpPr>
          <p:cNvPr id="114" name="TextBox 2"/>
          <p:cNvSpPr txBox="1"/>
          <p:nvPr/>
        </p:nvSpPr>
        <p:spPr>
          <a:xfrm>
            <a:off x="1536065" y="868680"/>
            <a:ext cx="9089390" cy="8229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ru-RU" sz="4200" b="1" i="0">
                <a:solidFill>
                  <a:srgbClr val="3A2419"/>
                </a:solidFill>
                <a:latin typeface="Georgia" panose="02040502050405020303"/>
              </a:rPr>
              <a:t>Сохранить и</a:t>
            </a:r>
            <a:endParaRPr lang="ru-RU" sz="4200" b="1" i="0">
              <a:solidFill>
                <a:srgbClr val="3A2419"/>
              </a:solidFill>
              <a:latin typeface="Georgia" panose="02040502050405020303"/>
            </a:endParaRPr>
          </a:p>
          <a:p>
            <a:pPr algn="ctr"/>
            <a:r>
              <a:rPr lang="ru-RU" sz="4200" b="1" i="0">
                <a:solidFill>
                  <a:srgbClr val="3A2419"/>
                </a:solidFill>
                <a:latin typeface="Georgia" panose="02040502050405020303"/>
              </a:rPr>
              <a:t>вернуться</a:t>
            </a:r>
            <a:endParaRPr lang="ru-RU" sz="4200" b="1" i="0">
              <a:solidFill>
                <a:srgbClr val="3A2419"/>
              </a:solidFill>
              <a:latin typeface="Georgia" panose="02040502050405020303"/>
            </a:endParaRPr>
          </a:p>
        </p:txBody>
      </p:sp>
      <p:pic>
        <p:nvPicPr>
          <p:cNvPr id="18" name="Рисунок 10"/>
          <p:cNvPicPr>
            <a:picLocks noChangeAspect="1"/>
          </p:cNvPicPr>
          <p:nvPr/>
        </p:nvPicPr>
        <p:blipFill>
          <a:blip r:embed="rId2"/>
          <a:srcRect l="25498" t="4976" r="23288" b="7775"/>
          <a:stretch>
            <a:fillRect/>
          </a:stretch>
        </p:blipFill>
        <p:spPr>
          <a:xfrm>
            <a:off x="8542020" y="579120"/>
            <a:ext cx="2678430" cy="5701030"/>
          </a:xfrm>
          <a:prstGeom prst="rect">
            <a:avLst/>
          </a:prstGeom>
        </p:spPr>
      </p:pic>
      <p:pic>
        <p:nvPicPr>
          <p:cNvPr id="2" name="Рисунок 12"/>
          <p:cNvPicPr>
            <a:picLocks noChangeAspect="1"/>
          </p:cNvPicPr>
          <p:nvPr/>
        </p:nvPicPr>
        <p:blipFill>
          <a:blip r:embed="rId3"/>
          <a:srcRect l="24455" t="5272" r="23247" b="5262"/>
          <a:stretch>
            <a:fillRect/>
          </a:stretch>
        </p:blipFill>
        <p:spPr>
          <a:xfrm>
            <a:off x="1075690" y="579120"/>
            <a:ext cx="2667000" cy="5701030"/>
          </a:xfrm>
          <a:prstGeom prst="rect">
            <a:avLst/>
          </a:prstGeom>
        </p:spPr>
      </p:pic>
      <p:pic>
        <p:nvPicPr>
          <p:cNvPr id="3" name="Изображение 2" descr="ChatGPT Image 25 мая 2026 г., 01_27_14 (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523740" y="3875405"/>
            <a:ext cx="696595" cy="696595"/>
          </a:xfrm>
          <a:prstGeom prst="rect">
            <a:avLst/>
          </a:prstGeom>
        </p:spPr>
      </p:pic>
      <p:pic>
        <p:nvPicPr>
          <p:cNvPr id="6" name="Изображение 5" descr="ChatGPT Image 25 мая 2026 г., 01_27_14 (3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556125" y="4848860"/>
            <a:ext cx="664210" cy="664210"/>
          </a:xfrm>
          <a:prstGeom prst="rect">
            <a:avLst/>
          </a:prstGeom>
        </p:spPr>
      </p:pic>
      <p:pic>
        <p:nvPicPr>
          <p:cNvPr id="7" name="Изображение 6" descr="ChatGPT Image 25 мая 2026 г., 01_27_14 (1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457065" y="2780665"/>
            <a:ext cx="862330" cy="862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Изображение 29" descr="ChatGPT Image 25 мая 2026 г., 01_45_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5" y="1018540"/>
            <a:ext cx="5435600" cy="5435600"/>
          </a:xfrm>
          <a:prstGeom prst="rect">
            <a:avLst/>
          </a:prstGeom>
        </p:spPr>
      </p:pic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8087360" y="2714625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8956040" y="2714625"/>
            <a:ext cx="2376805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altLang="en-US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Базовый сценарий бесплатен</a:t>
            </a:r>
            <a:endParaRPr lang="ru-RU" altLang="en-US" sz="180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8087360" y="3720465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8956040" y="3720465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ru-RU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Premium</a:t>
            </a:r>
            <a:r>
              <a:rPr lang="ru-RU" altLang="ru-RU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: экспорт и выше сложность</a:t>
            </a:r>
            <a:endParaRPr lang="ru-RU" altLang="ru-RU" sz="1800" dirty="0">
              <a:solidFill>
                <a:srgbClr val="2B1B1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8087360" y="4726305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DF9">
              <a:alpha val="93000"/>
            </a:srgbClr>
          </a:solidFill>
          <a:ln w="11430">
            <a:solidFill>
              <a:srgbClr val="F4E9E0"/>
            </a:solidFill>
            <a:prstDash val="solid"/>
          </a:ln>
          <a:effectLst/>
        </p:spPr>
        <p:txBody>
          <a:bodyPr/>
          <a:p>
            <a:endParaRPr lang="ru-RU" altLang="en-US"/>
          </a:p>
        </p:txBody>
      </p:sp>
      <p:sp>
        <p:nvSpPr>
          <p:cNvPr id="19" name="Text 16"/>
          <p:cNvSpPr/>
          <p:nvPr>
            <p:custDataLst>
              <p:tags r:id="rId8"/>
            </p:custDataLst>
          </p:nvPr>
        </p:nvSpPr>
        <p:spPr>
          <a:xfrm>
            <a:off x="8956040" y="4726305"/>
            <a:ext cx="2378075" cy="76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2B1B1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Снятие лимитов без блокировки пути</a:t>
            </a:r>
            <a:endParaRPr lang="ru-RU" sz="1800" dirty="0">
              <a:solidFill>
                <a:srgbClr val="2B1B1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14" name="TextBox 2"/>
          <p:cNvSpPr txBox="1"/>
          <p:nvPr/>
        </p:nvSpPr>
        <p:spPr>
          <a:xfrm>
            <a:off x="5876290" y="868680"/>
            <a:ext cx="5457190" cy="8229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ru-RU" sz="4200" b="1" i="0">
                <a:solidFill>
                  <a:srgbClr val="3A2419"/>
                </a:solidFill>
                <a:latin typeface="Georgia" panose="02040502050405020303"/>
              </a:rPr>
              <a:t>Настройки и премиум</a:t>
            </a:r>
            <a:endParaRPr lang="ru-RU" sz="4200" b="1" i="0">
              <a:solidFill>
                <a:srgbClr val="3A2419"/>
              </a:solidFill>
              <a:latin typeface="Georgia" panose="02040502050405020303" pitchFamily="34" charset="0"/>
              <a:cs typeface="Georgia" panose="02040502050405020303" pitchFamily="34" charset="0"/>
              <a:sym typeface="+mn-ea"/>
            </a:endParaRPr>
          </a:p>
        </p:txBody>
      </p:sp>
      <p:pic>
        <p:nvPicPr>
          <p:cNvPr id="3" name="Рисунок 15"/>
          <p:cNvPicPr>
            <a:picLocks noChangeAspect="1"/>
          </p:cNvPicPr>
          <p:nvPr/>
        </p:nvPicPr>
        <p:blipFill>
          <a:blip r:embed="rId9"/>
          <a:srcRect l="20935" t="3359" r="21576" b="3054"/>
          <a:stretch>
            <a:fillRect/>
          </a:stretch>
        </p:blipFill>
        <p:spPr>
          <a:xfrm>
            <a:off x="4303395" y="610870"/>
            <a:ext cx="2770505" cy="5636260"/>
          </a:xfrm>
          <a:prstGeom prst="rect">
            <a:avLst/>
          </a:prstGeom>
        </p:spPr>
      </p:pic>
      <p:pic>
        <p:nvPicPr>
          <p:cNvPr id="2" name="Изображение 1" descr="ChatGPT Image 25 мая 2026 г., 01_35_47 (2)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8157845" y="3832225"/>
            <a:ext cx="602615" cy="602615"/>
          </a:xfrm>
          <a:prstGeom prst="rect">
            <a:avLst/>
          </a:prstGeom>
        </p:spPr>
      </p:pic>
      <p:pic>
        <p:nvPicPr>
          <p:cNvPr id="4" name="Изображение 3" descr="ChatGPT Image 25 мая 2026 г., 01_35_49 (3)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087360" y="4775200"/>
            <a:ext cx="763270" cy="713740"/>
          </a:xfrm>
          <a:prstGeom prst="rect">
            <a:avLst/>
          </a:prstGeom>
        </p:spPr>
      </p:pic>
      <p:pic>
        <p:nvPicPr>
          <p:cNvPr id="7" name="Изображение 6" descr="ChatGPT Image 25 мая 2026 г., 01_35_47 (1)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 flipH="1">
            <a:off x="8117840" y="2759710"/>
            <a:ext cx="683260" cy="683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1"/>
          <p:cNvSpPr txBox="1"/>
          <p:nvPr/>
        </p:nvSpPr>
        <p:spPr>
          <a:xfrm>
            <a:off x="1978660" y="3101340"/>
            <a:ext cx="3040380" cy="416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400" b="1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Готово сейчас</a:t>
            </a:r>
            <a:endParaRPr sz="2400" b="1">
              <a:solidFill>
                <a:srgbClr val="3A24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2"/>
          <p:cNvSpPr txBox="1"/>
          <p:nvPr/>
        </p:nvSpPr>
        <p:spPr>
          <a:xfrm>
            <a:off x="2070100" y="3633470"/>
            <a:ext cx="3474720" cy="1630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2000" b="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000" b="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Единый пользовательский маршрут</a:t>
            </a:r>
            <a:br>
              <a:rPr sz="2000" b="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Генерация схемы</a:t>
            </a:r>
            <a:b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Сохранение проектов</a:t>
            </a:r>
            <a:b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Настройки приложения</a:t>
            </a:r>
            <a:endParaRPr sz="2000">
              <a:solidFill>
                <a:srgbClr val="3A24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3"/>
          <p:cNvSpPr txBox="1"/>
          <p:nvPr/>
        </p:nvSpPr>
        <p:spPr>
          <a:xfrm>
            <a:off x="6687820" y="3101340"/>
            <a:ext cx="338201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Следующие шаги</a:t>
            </a:r>
            <a:endParaRPr sz="2400" b="1">
              <a:solidFill>
                <a:srgbClr val="3A24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4"/>
          <p:cNvSpPr txBox="1"/>
          <p:nvPr/>
        </p:nvSpPr>
        <p:spPr>
          <a:xfrm>
            <a:off x="6779260" y="3633470"/>
            <a:ext cx="3291840" cy="1322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2000" b="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000" b="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Библиотека схем</a:t>
            </a:r>
            <a:br>
              <a:rPr sz="2000" b="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Рекомендации</a:t>
            </a:r>
            <a:b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Экспорт</a:t>
            </a:r>
            <a:b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000">
                <a:solidFill>
                  <a:srgbClr val="3A24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Расширенный premium</a:t>
            </a:r>
            <a:endParaRPr sz="2000">
              <a:solidFill>
                <a:srgbClr val="3A24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2"/>
          <p:cNvSpPr txBox="1"/>
          <p:nvPr/>
        </p:nvSpPr>
        <p:spPr>
          <a:xfrm>
            <a:off x="1536192" y="868553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200" b="1" i="0">
                <a:solidFill>
                  <a:srgbClr val="3A2419"/>
                </a:solidFill>
                <a:latin typeface="Georgia" panose="02040502050405020303"/>
              </a:rPr>
              <a:t>Roadmap</a:t>
            </a:r>
            <a:endParaRPr lang="en-US" sz="4200" b="1" i="0">
              <a:solidFill>
                <a:srgbClr val="3A2419"/>
              </a:solidFill>
              <a:latin typeface="Georgia" panose="02040502050405020303"/>
            </a:endParaRPr>
          </a:p>
        </p:txBody>
      </p:sp>
      <p:sp>
        <p:nvSpPr>
          <p:cNvPr id="27" name="Text 1"/>
          <p:cNvSpPr/>
          <p:nvPr/>
        </p:nvSpPr>
        <p:spPr>
          <a:xfrm>
            <a:off x="1536065" y="1728470"/>
            <a:ext cx="4636135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900" b="1">
                <a:solidFill>
                  <a:srgbClr val="A95E32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Критический сценарий уже стабилен, дальше — развитие продукта</a:t>
            </a:r>
            <a:endParaRPr lang="en-US" sz="1900" b="1" dirty="0">
              <a:solidFill>
                <a:srgbClr val="A95E32"/>
              </a:solidFill>
              <a:latin typeface="Bahnschrift" panose="020B0502040204020203" charset="0"/>
              <a:ea typeface="Arial" panose="020B0604020202020204" pitchFamily="34" charset="-122"/>
              <a:cs typeface="Bahnschrift" panose="020B0502040204020203" charset="0"/>
              <a:sym typeface="+mn-ea"/>
            </a:endParaRPr>
          </a:p>
        </p:txBody>
      </p:sp>
      <p:pic>
        <p:nvPicPr>
          <p:cNvPr id="30" name="Изображение 29" descr="ChatGPT Image 25 мая 2026 г., 01_51_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225" y="2830830"/>
            <a:ext cx="1001395" cy="1001395"/>
          </a:xfrm>
          <a:prstGeom prst="rect">
            <a:avLst/>
          </a:prstGeom>
        </p:spPr>
      </p:pic>
      <p:pic>
        <p:nvPicPr>
          <p:cNvPr id="31" name="Изображение 30" descr="ChatGPT Image 25 мая 2026 г., 01_27_15 (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2830830"/>
            <a:ext cx="1002030" cy="1002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1688465" y="3040380"/>
            <a:ext cx="648716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altLang="en-US" sz="6600" b="1" dirty="0">
                <a:solidFill>
                  <a:srgbClr val="3A241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Спасибо за внимание</a:t>
            </a:r>
            <a:endParaRPr lang="ru-RU" altLang="en-US" sz="6600" b="1" dirty="0">
              <a:solidFill>
                <a:srgbClr val="3A2419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2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3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4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5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6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7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8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9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10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11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12.xml><?xml version="1.0" encoding="utf-8"?>
<p:tagLst xmlns:p="http://schemas.openxmlformats.org/presentationml/2006/main">
  <p:tag name="KSO_WM_DIAGRAM_VIRTUALLY_FRAME" val="{&quot;height&quot;:470.05,&quot;left&quot;:122.4,&quot;top&quot;:8.75,&quot;width&quot;:699.1199212598425}"/>
</p:tagLst>
</file>

<file path=ppt/tags/tag13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14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15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16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17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18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19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20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21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22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23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24.xml><?xml version="1.0" encoding="utf-8"?>
<p:tagLst xmlns:p="http://schemas.openxmlformats.org/presentationml/2006/main">
  <p:tag name="KSO_WM_DIAGRAM_VIRTUALLY_FRAME" val="{&quot;height&quot;:505.05,&quot;left&quot;:122.4,&quot;top&quot;:8.75,&quot;width&quot;:873.5}"/>
</p:tagLst>
</file>

<file path=ppt/tags/tag25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26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27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28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29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30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31.xml><?xml version="1.0" encoding="utf-8"?>
<p:tagLst xmlns:p="http://schemas.openxmlformats.org/presentationml/2006/main">
  <p:tag name="KSO_WM_DIAGRAM_VIRTUALLY_FRAME" val="{&quot;height&quot;:293.25,&quot;left&quot;:518,&quot;top&quot;:168.3,&quot;width&quot;:260.7}"/>
</p:tagLst>
</file>

<file path=ppt/tags/tag32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33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34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35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36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37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38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39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40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ags/tag41.xml><?xml version="1.0" encoding="utf-8"?>
<p:tagLst xmlns:p="http://schemas.openxmlformats.org/presentationml/2006/main">
  <p:tag name="KSO_WM_DIAGRAM_VIRTUALLY_FRAME" val="{&quot;height&quot;:293.25,&quot;left&quot;:476.1,&quot;top&quot;:168.3,&quot;width&quot;:416.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1616</Words>
  <Application>WPS Presentation</Application>
  <PresentationFormat>On-screen Show (16:9)</PresentationFormat>
  <Paragraphs>119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38" baseType="lpstr">
      <vt:lpstr>Arial</vt:lpstr>
      <vt:lpstr>SimSun</vt:lpstr>
      <vt:lpstr>Wingdings</vt:lpstr>
      <vt:lpstr>Georgia</vt:lpstr>
      <vt:lpstr>Georgia</vt:lpstr>
      <vt:lpstr>Georgia</vt:lpstr>
      <vt:lpstr>Aptos</vt:lpstr>
      <vt:lpstr>Segoe UI</vt:lpstr>
      <vt:lpstr>Aptos</vt:lpstr>
      <vt:lpstr>Aptos</vt:lpstr>
      <vt:lpstr>Microsoft YaHei</vt:lpstr>
      <vt:lpstr>Arial Unicode MS</vt:lpstr>
      <vt:lpstr>Bahnschrift</vt:lpstr>
      <vt:lpstr>Adobe Gothic Std B</vt:lpstr>
      <vt:lpstr>Tahoma</vt:lpstr>
      <vt:lpstr>Franklin Gothic Medium</vt:lpstr>
      <vt:lpstr>Georgia</vt:lpstr>
      <vt:lpstr>Arial</vt:lpstr>
      <vt:lpstr>Arial</vt:lpstr>
      <vt:lpstr>Arial</vt:lpstr>
      <vt:lpstr>Aptos</vt:lpstr>
      <vt:lpstr>Bahnschrift SemiLight</vt:lpstr>
      <vt:lpstr>Adobe Heiti Std R</vt:lpstr>
      <vt:lpstr>Adobe Myungjo Std M</vt:lpstr>
      <vt:lpstr>GOST Type BU</vt:lpstr>
      <vt:lpstr>GOST type A</vt:lpstr>
      <vt:lpstr>GOST Type AU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Team N / OATux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HandHopHop</dc:title>
  <dc:creator>OpenAI</dc:creator>
  <dc:subject>HandHopHop title slide</dc:subject>
  <cp:lastModifiedBy>Егор Девяткин</cp:lastModifiedBy>
  <cp:revision>20</cp:revision>
  <dcterms:created xsi:type="dcterms:W3CDTF">2026-05-24T18:37:00Z</dcterms:created>
  <dcterms:modified xsi:type="dcterms:W3CDTF">2026-05-24T22:55:25Z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A374E1B485EB418B8AA9A6E3A99F9E04_13</vt:lpwstr>
  </property>
  <property fmtid="{D5CDD505-2E9C-101B-9397-08002B2CF9AE}" pid="3" name="KSOProductBuildVer">
    <vt:lpwstr>1049-12.2.0.23149</vt:lpwstr>
  </property>
</Properties>
</file>